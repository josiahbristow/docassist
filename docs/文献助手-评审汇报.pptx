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AI 应用创新大赛 · 校园学习类 · 文献资料助手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微软雅黑"/>
                <a:ea typeface="微软雅黑"/>
              </a:rPr>
              <a:t>文献助手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C3CEE6"/>
                </a:solidFill>
                <a:latin typeface="微软雅黑"/>
                <a:ea typeface="微软雅黑"/>
              </a:rPr>
              <a:t>DocAssist · AI 赋能校园文献阅读与写作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论文速读 + 参考文献格式校对 + 学术翻译，一个手机入口全解决。</a:t>
            </a:r>
          </a:p>
          <a:p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3CEE6"/>
                </a:solidFill>
                <a:latin typeface="微软雅黑"/>
                <a:ea typeface="微软雅黑"/>
              </a:rPr>
              <a:t>微信小程序 + Android 客户端（双端同源）· 规则引擎与生成式模型混合架构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89204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474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团队：（请填写成员姓名，1–3 人）</a:t>
            </a:r>
          </a:p>
          <a:p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2026 年 10 月 · 提交日期：10 月 30 日</a:t>
            </a:r>
          </a:p>
          <a:p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C8DFF"/>
                </a:solidFill>
                <a:latin typeface="微软雅黑"/>
                <a:ea typeface="微软雅黑"/>
              </a:rPr>
              <a:t>Android 客户端已打包：文献助手-1.0.0.apk（4.4 MB，Android 5.1+）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需求背景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校园里两个反复出现的痛点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01568" cy="1874519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0195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C26B"/>
                </a:solidFill>
                <a:latin typeface="微软雅黑"/>
                <a:ea typeface="微软雅黑"/>
              </a:rPr>
              <a:t>40–60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05456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C3CEE6"/>
                </a:solidFill>
                <a:latin typeface="微软雅黑"/>
                <a:ea typeface="微软雅黑"/>
              </a:rPr>
              <a:t>通读一篇 12 页英文论文所需时间
学生真正需要的只是其中 3 个结论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01568" cy="1874519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90195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7A7A"/>
                </a:solidFill>
                <a:latin typeface="微软雅黑"/>
                <a:ea typeface="微软雅黑"/>
              </a:rPr>
              <a:t>47.7%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505456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C3CEE6"/>
                </a:solidFill>
                <a:latin typeface="微软雅黑"/>
                <a:ea typeface="微软雅黑"/>
              </a:rPr>
              <a:t>本班 10 份课程论文、86 条文献中
41 条不符合 GB/T 7714-2015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91640"/>
            <a:ext cx="3401568" cy="1874519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0195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C8DFF"/>
                </a:solidFill>
                <a:latin typeface="微软雅黑"/>
                <a:ea typeface="微软雅黑"/>
              </a:rPr>
              <a:t>4.1 条/份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505456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C3CEE6"/>
                </a:solidFill>
                <a:latin typeface="微软雅黑"/>
                <a:ea typeface="微软雅黑"/>
              </a:rPr>
              <a:t>平均每份文献表需要手工修改的条数
格式退回是课程论文最常见的返工原因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200"/>
            <a:ext cx="10634472" cy="1874519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为什么现有工具补不上这一环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98848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通用 AI 对话：要手工复制粘贴，读不了 PDF，结果不成结构</a:t>
            </a:r>
          </a:p>
          <a:p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文献管理软件：需付费、桌面端为主，格式规则仍要自己学</a:t>
            </a:r>
          </a:p>
          <a:p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校园场景：文献阅读发生在通勤、课间、宿舍——不在电脑前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需求判断</a:t>
            </a:r>
          </a:p>
          <a:p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>
                <a:solidFill>
                  <a:srgbClr val="C3CEE6"/>
                </a:solidFill>
                <a:latin typeface="微软雅黑"/>
                <a:ea typeface="微软雅黑"/>
              </a:rPr>
              <a:t>手机可用、零注册；读与写连起来；结果可核对、可复现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作品概述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三条主线，一个入口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401568" cy="3520440"/>
          </a:xfrm>
          <a:prstGeom prst="roundRect">
            <a:avLst>
              <a:gd name="adj" fmla="val 9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828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4C8DFF"/>
                </a:solidFill>
                <a:latin typeface="微软雅黑"/>
                <a:ea typeface="微软雅黑"/>
              </a:rPr>
              <a:t>论文速读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选择 PDF → 10–30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一句话读懂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8152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研究问题 / 方法 / 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65576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结论 / 创新 / 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962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术语对照表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01568" cy="3520440"/>
          </a:xfrm>
          <a:prstGeom prst="roundRect">
            <a:avLst>
              <a:gd name="adj" fmla="val 9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828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3DD598"/>
                </a:solidFill>
                <a:latin typeface="微软雅黑"/>
                <a:ea typeface="微软雅黑"/>
              </a:rPr>
              <a:t>格式校对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042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粘贴整段 → 1 秒内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974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18 条国标规则逐条判定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8152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外文文献自动转国标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65576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一键修正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4962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导出文献表 / BibTeX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645920"/>
            <a:ext cx="3401568" cy="3520440"/>
          </a:xfrm>
          <a:prstGeom prst="roundRect">
            <a:avLst>
              <a:gd name="adj" fmla="val 9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1828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C26B"/>
                </a:solidFill>
                <a:latin typeface="微软雅黑"/>
                <a:ea typeface="微软雅黑"/>
              </a:rPr>
              <a:t>学术翻译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042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粘贴段落 → 5–20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974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先抽术语表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08152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术语约束逐段翻译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465576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双语对照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4962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· 保留公式与编号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376672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3212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3CEE6"/>
                </a:solidFill>
                <a:latin typeface="微软雅黑"/>
                <a:ea typeface="微软雅黑"/>
              </a:rPr>
              <a:t>形态：微信小程序 + Android 客户端（APK）双端同源　|　扫码即用、无需注册　|　格式校对零门槛、断网可用　|　AI 由用户自持密钥（BYOK）驱动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功能一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论文速读：把 12 页论文压成一张能看懂的卡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6035040" cy="448056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结构化字段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579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一句话读懂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1579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不超过 60 字，说清做了什么、效果如何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3347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研究问题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6334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它要解决什么，缺口在哪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方法与技术路线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1089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用了什么模型 / 算法 / 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444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数据与实验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58444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数据集、样本量、对比基线；未说明就写"未说明"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5993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主要结论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0599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尽量带数字，便于直接引用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354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创新点 / 局限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53542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写作时可借用的"研究空白"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1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术语对照表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010911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英文术语—中文译名—一句话解释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86399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参考文献段落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48639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自动抽取，直接进入格式校对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1645920"/>
            <a:ext cx="4315968" cy="2377440"/>
          </a:xfrm>
          <a:prstGeom prst="roundRect">
            <a:avLst>
              <a:gd name="adj" fmla="val 7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81051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工程细节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157984"/>
            <a:ext cx="3886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&gt; 1.2 万字自动 Map-Reduce：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先分块提炼要点再汇总，绕开上下文限制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扫描版识别：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文本层过少直接提示，不拿空文本硬喂模型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206240"/>
            <a:ext cx="4315968" cy="1920240"/>
          </a:xfrm>
          <a:prstGeom prst="roundRect">
            <a:avLst>
              <a:gd name="adj" fmla="val 7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37083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输出约束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700016"/>
            <a:ext cx="3886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JSON 结构化输出，固定字段可直接渲染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只依据原文、不编造数据、缺失填"未说明"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temperature 0.2，同一篇论文结果稳定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功能二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参考文献格式校对：18 条国标规则，秒级判定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05 / 12</a:t>
            </a:r>
          </a:p>
        </p:txBody>
      </p:sp>
      <p:pic>
        <p:nvPicPr>
          <p:cNvPr id="6" name="Picture 5" descr="app-c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2273387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C3CEE6"/>
                </a:solidFill>
                <a:latin typeface="微软雅黑"/>
                <a:ea typeface="微软雅黑"/>
              </a:rPr>
              <a:t>Android 客户端实机界面（与小程序同源）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780" y="1572768"/>
            <a:ext cx="7840675" cy="233172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9812" y="1737360"/>
            <a:ext cx="73377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8DFF"/>
                </a:solidFill>
                <a:latin typeface="微软雅黑"/>
                <a:ea typeface="微软雅黑"/>
              </a:rPr>
              <a:t>判定分级与计分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9812" y="2084831"/>
            <a:ext cx="72920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错误 / 警告 / 提示 三级</a:t>
            </a:r>
          </a:p>
          <a:p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100 − 20×错误 − 8×警告 − 2×提示（下限 0）</a:t>
            </a:r>
          </a:p>
          <a:p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一键修正可处理：标点、页码符号、作者"等"、引用日期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3780" y="4041648"/>
            <a:ext cx="7840675" cy="233172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9812" y="4206240"/>
            <a:ext cx="73377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8DFF"/>
                </a:solidFill>
                <a:latin typeface="微软雅黑"/>
                <a:ea typeface="微软雅黑"/>
              </a:rPr>
              <a:t>规则覆盖面（部分）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9812" y="4553712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类型标识缺失 / 题名前多空格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9812" y="4777740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作者 &gt;3 人未用"等 / et al."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9812" y="5001768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期刊缺卷(期)、缺页码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9812" y="5225796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专著缺出版地、学位论文缺保存单位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9812" y="5449824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电子资源缺引用日期 /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9812" y="5673852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页码用 ~ 或长破折号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9812" y="5897880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外文 ACL / IEEE 体例 → 一键转国标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9812" y="6121908"/>
            <a:ext cx="72920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重复条目检测、导出文献表 / BibTeX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创新点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PDF → 参考文献 → 一键校对：把最痛的一步自动化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0116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① 上传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432304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有文字层的论文
（知网 / arXiv / IEEE）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19272" y="2697480"/>
            <a:ext cx="292608" cy="384048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30168" y="1828800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20116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② 自动定位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432304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全文搜索最后一个
"参考文献 / References"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72200" y="2697480"/>
            <a:ext cx="292608" cy="384048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83096" y="1828800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0116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③ 规则切分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32304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按 [n] / n. 编号切条
去编号、去短行、不动原文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25128" y="2697480"/>
            <a:ext cx="292608" cy="384048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6024" y="1828800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0116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DD598"/>
                </a:solidFill>
                <a:latin typeface="微软雅黑"/>
                <a:ea typeface="微软雅黑"/>
              </a:rPr>
              <a:t>④ 一键校对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432304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18 条规则判定
一键修正、导出文献表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06240"/>
            <a:ext cx="10634472" cy="1737360"/>
          </a:xfrm>
          <a:prstGeom prst="roundRect">
            <a:avLst>
              <a:gd name="adj" fmla="val 7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074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8DFF"/>
                </a:solidFill>
                <a:latin typeface="微软雅黑"/>
                <a:ea typeface="微软雅黑"/>
              </a:rPr>
              <a:t>学生写文献表的真实动作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5488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C3CEE6"/>
                </a:solidFill>
                <a:latin typeface="微软雅黑"/>
                <a:ea typeface="微软雅黑"/>
              </a:rPr>
              <a:t>读一篇文献 → 记下题名、作者、期刊 → 抄进文献表 → 对照国标逐条改 → 再查一遍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074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3DD598"/>
                </a:solidFill>
                <a:latin typeface="微软雅黑"/>
                <a:ea typeface="微软雅黑"/>
              </a:rPr>
              <a:t>本作品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读一篇文献 → 勾选"检查这篇论文的参考文献" → 一键修正 → 复制文献表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0819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英文论文的参考文献是 ACL 体例（年份在末尾、作者用 and 连接），抽取后自动识别并重写为国标——这是闭环能成立的前提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分层架构：小程序 + 云函数 + 混合能力层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C8DFF"/>
                </a:solidFill>
                <a:latin typeface="微软雅黑"/>
                <a:ea typeface="微软雅黑"/>
              </a:rP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883664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小程序 5 页（含 API 设置）｜Android 客户端（同一份前端资源）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90195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交互、状态、本地统计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70048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EB6FF"/>
                </a:solidFill>
                <a:latin typeface="微软雅黑"/>
                <a:ea typeface="微软雅黑"/>
              </a:rPr>
              <a:t>服务层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92608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小程序：云函数 docai｜Android：本机 pdf.js + 原生 HTTP 直连模型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9443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分发、超时、错误码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12463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86783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DD598"/>
                </a:solidFill>
                <a:latin typeface="微软雅黑"/>
                <a:ea typeface="微软雅黑"/>
              </a:rPr>
              <a:t>能力层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968496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pdf-parse　|　规则引擎 gb7714.js（18 条）　|　DeepSeek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986783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解析 · 判定 · 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54879"/>
            <a:ext cx="10634472" cy="914400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29199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C26B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010912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云存储（私有路径 PDF）| 云数据库（仅元数据）| 本地 storage（统计 + 用户密钥）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02919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密钥不出本机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389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4C8DFF"/>
                </a:solidFill>
                <a:latin typeface="微软雅黑"/>
                <a:ea typeface="微软雅黑"/>
              </a:rPr>
              <a:t>云开发带来的交付优势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无需自建服务器、无需 ICP 备案域名；扫码即体验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98348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1389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4C8DFF"/>
                </a:solidFill>
                <a:latin typeface="微软雅黑"/>
                <a:ea typeface="微软雅黑"/>
              </a:rPr>
              <a:t>单一事实来源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shared/ 同步到两端，避免小程序与云函数逻辑漂移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核心 AI 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模型只做"读不懂"的部分，其余交给确定性规则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401568" cy="3291840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1051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结构化速读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40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角色设定：严谨的学术阅读助手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7432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三条硬约束：只依原文 / 不编造 / 缺失填"未说明"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固定 JSON schema，11 个字段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490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temperature 0.2，max_tokens 2200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25195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长文 Map-Reduce：每块 ≤120 字要点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01568" cy="3291840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1051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DD598"/>
                </a:solidFill>
                <a:latin typeface="微软雅黑"/>
                <a:ea typeface="微软雅黑"/>
              </a:rPr>
              <a:t>术语一致翻译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40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第一步：抽 12–20 个术语建表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7432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第二步：术语表作为强约束逐段注入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保留公式、数字、参考文献编号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7490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分段 2200 字，避免译文被截断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25195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解决通用机翻的"术语漂移"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645920"/>
            <a:ext cx="3401568" cy="3291840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81051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C26B"/>
                </a:solidFill>
                <a:latin typeface="微软雅黑"/>
                <a:ea typeface="微软雅黑"/>
              </a:rPr>
              <a:t>规则引擎（非 AI）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240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18 条规则，三级判定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7432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每条规则自带修正器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2461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毫秒级、断网可用、结果可复现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7490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模型故障时校对能力完好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425195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· 只对国标明确项报错，避免误报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38928"/>
            <a:ext cx="10634472" cy="1051560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0352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选型理由：DeepSeek-Chat 支持 64K 上下文与 JSON 模式，境内服务、数据不出境，单篇速读成本 0.01–0.03 元；不做微调——周期内无高质量标注数据，把投入放在提示词结构与失败兜底上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创新创意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四个可验证的差异点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10634472" cy="1024128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C8D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1051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混合架构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1284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确定性的交给规则，语义的交给模型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99339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C8DFF"/>
                </a:solidFill>
                <a:latin typeface="微软雅黑"/>
                <a:ea typeface="微软雅黑"/>
              </a:rPr>
              <a:t>校对断网可用、同一输入输出恒定、模型故障不影响核心能力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79776"/>
            <a:ext cx="10634472" cy="1024128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6265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3DD59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443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读写闭环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467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抽出参考文献段，外文体例自动转国标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2724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DD598"/>
                </a:solidFill>
                <a:latin typeface="微软雅黑"/>
                <a:ea typeface="微软雅黑"/>
              </a:rPr>
              <a:t>《Attention》全文 38 条参考文献零误判转换，直接从英文论文产出可用文献表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13632"/>
            <a:ext cx="10634472" cy="1024128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96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C26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7822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术语先对齐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4805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先建术语表再翻译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26110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C26B"/>
                </a:solidFill>
                <a:latin typeface="微软雅黑"/>
                <a:ea typeface="微软雅黑"/>
              </a:rPr>
              <a:t>把术语一致性从随机行为变成显式约束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47488"/>
            <a:ext cx="10634472" cy="1024128"/>
          </a:xfrm>
          <a:prstGeom prst="roundRect">
            <a:avLst>
              <a:gd name="adj" fmla="val 7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303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8C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120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场景取舍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6144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零安装、手机优先、失败可解释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3949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08CFF"/>
                </a:solidFill>
                <a:latin typeface="微软雅黑"/>
                <a:ea typeface="微软雅黑"/>
              </a:rPr>
              <a:t>扫描版 / 网络 / 解析失败分别给出下一步动作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校园落地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从本班 10 份文献表到 2 个班的试用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6675120" cy="4297680"/>
          </a:xfrm>
          <a:prstGeom prst="roundRect">
            <a:avLst>
              <a:gd name="adj" fmla="val 6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4708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4C8DFF"/>
                </a:solidFill>
                <a:latin typeface="微软雅黑"/>
                <a:ea typeface="微软雅黑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8470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对象 / 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8470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观察指标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3347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已完成自测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6334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8 组典型样例 + 119 页 PDF 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263347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判定与修正逐条核对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505456"/>
            <a:ext cx="6263640" cy="9525"/>
          </a:xfrm>
          <a:prstGeom prst="rect">
            <a:avLst/>
          </a:prstGeom>
          <a:solidFill>
            <a:srgbClr val="2C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1985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内测（本周）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41985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团队 + 同班 5 人 / 10 份文献表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41985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平均修正条数、修正后通过率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291839"/>
            <a:ext cx="6263640" cy="9525"/>
          </a:xfrm>
          <a:prstGeom prst="rect">
            <a:avLst/>
          </a:prstGeom>
          <a:solidFill>
            <a:srgbClr val="2C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062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试用（11 月上旬）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2062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论文写作课 1–2 个班 / 约 60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42062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周活跃、速读篇数、"能看懂"1–5 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4078224"/>
            <a:ext cx="6263640" cy="9525"/>
          </a:xfrm>
          <a:prstGeom prst="rect">
            <a:avLst/>
          </a:prstGeom>
          <a:solidFill>
            <a:srgbClr val="2C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99262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推广（11 月中下旬）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9926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学院公众号 / 课程群 / 图书馆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9926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新增用户、复用率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4864608"/>
            <a:ext cx="6263640" cy="9525"/>
          </a:xfrm>
          <a:prstGeom prst="rect">
            <a:avLst/>
          </a:prstGeom>
          <a:solidFill>
            <a:srgbClr val="2C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1645920"/>
            <a:ext cx="3767328" cy="2011680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18105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3DD598"/>
                </a:solidFill>
                <a:latin typeface="微软雅黑"/>
                <a:ea typeface="微软雅黑"/>
              </a:rPr>
              <a:t>可持续性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157984"/>
            <a:ext cx="3337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云开发免费额度可支撑小规模日常使用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校对功能零 token 成本</a:t>
            </a:r>
          </a:p>
          <a:p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后续可接校内统一认证与图书馆资源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840480"/>
            <a:ext cx="3767328" cy="2103120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400507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8DFF"/>
                </a:solidFill>
                <a:latin typeface="微软雅黑"/>
                <a:ea typeface="微软雅黑"/>
              </a:rPr>
              <a:t>数据与隐私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5254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仅处理用户主动选择的文件</a:t>
            </a:r>
          </a:p>
          <a:p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云数据库只存标题/页数/字数等元数据</a:t>
            </a:r>
          </a:p>
          <a:p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BYOK：密钥只存用户本机，云函数内存转发不落库</a:t>
            </a:r>
          </a:p>
          <a:p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仅用境内模型服务，数据不出境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8DFF"/>
                </a:solidFill>
                <a:latin typeface="微软雅黑"/>
                <a:ea typeface="微软雅黑"/>
              </a:rPr>
              <a:t>坦诚说明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已知限制与下一步迭代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09928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7A7A"/>
                </a:solidFill>
                <a:latin typeface="微软雅黑"/>
                <a:ea typeface="微软雅黑"/>
              </a:rPr>
              <a:t>不支持扫描版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2996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已识别并明确提示，不拿空文本硬喂模型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957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DD598"/>
                </a:solidFill>
                <a:latin typeface="微软雅黑"/>
                <a:ea typeface="微软雅黑"/>
              </a:rPr>
              <a:t>接入 OCR 或引导使用文字版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2666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7A7A"/>
                </a:solidFill>
                <a:latin typeface="微软雅黑"/>
                <a:ea typeface="微软雅黑"/>
              </a:rPr>
              <a:t>超长论文摘要损失细节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3467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每段仅保留 120 字要点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7124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DD598"/>
                </a:solidFill>
                <a:latin typeface="微软雅黑"/>
                <a:ea typeface="微软雅黑"/>
              </a:rPr>
              <a:t>改为分层摘要（章节级 → 全文级）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4340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7A7A"/>
                </a:solidFill>
                <a:latin typeface="微软雅黑"/>
                <a:ea typeface="微软雅黑"/>
              </a:rPr>
              <a:t>暂无文献库管理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6634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仅单次校验与导出，不跨稿保存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0292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DD598"/>
                </a:solidFill>
                <a:latin typeface="微软雅黑"/>
                <a:ea typeface="微软雅黑"/>
              </a:rPr>
              <a:t>收藏 / 标签 + Zotero·EndNote 导出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72768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09928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C26B"/>
                </a:solidFill>
                <a:latin typeface="微软雅黑"/>
                <a:ea typeface="微软雅黑"/>
              </a:rPr>
              <a:t>规则不覆盖期刊内部细则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2996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如作者姓名缩写形式，不做判定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957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DD598"/>
                </a:solidFill>
                <a:latin typeface="微软雅黑"/>
                <a:ea typeface="微软雅黑"/>
              </a:rPr>
              <a:t>支持自定义期刊模板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889504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02666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C26B"/>
                </a:solidFill>
                <a:latin typeface="微软雅黑"/>
                <a:ea typeface="微软雅黑"/>
              </a:rPr>
              <a:t>AI 功能需用户自备密钥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467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格式校对无需密钥，设置页 30 秒引导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124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DD598"/>
                </a:solidFill>
                <a:latin typeface="微软雅黑"/>
                <a:ea typeface="微软雅黑"/>
              </a:rPr>
              <a:t>争取课程共用额度 / 校内统一网关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4206240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4340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C26B"/>
                </a:solidFill>
                <a:latin typeface="微软雅黑"/>
                <a:ea typeface="微软雅黑"/>
              </a:rPr>
              <a:t>暂无文献问答（RAG）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只做摘要与翻译，不支持追问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292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DD598"/>
                </a:solidFill>
                <a:latin typeface="微软雅黑"/>
                <a:ea typeface="微软雅黑"/>
              </a:rPr>
              <a:t>复用已解析文本做“针对本文提问”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532120"/>
            <a:ext cx="10634472" cy="621792"/>
          </a:xfrm>
          <a:prstGeom prst="roundRect">
            <a:avLst>
              <a:gd name="adj" fmla="val 8000"/>
            </a:avLst>
          </a:prstGeom>
          <a:solidFill>
            <a:srgbClr val="17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650992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3CEE6"/>
                </a:solidFill>
                <a:latin typeface="微软雅黑"/>
                <a:ea typeface="微软雅黑"/>
              </a:rPr>
              <a:t>以上限制均已写入说明书第十一章并给出对应迭代计划；下一阶段优先做「针对这篇论文提问」（RAG）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C8DFF"/>
                </a:solidFill>
                <a:latin typeface="微软雅黑"/>
                <a:ea typeface="微软雅黑"/>
              </a:rPr>
              <a:t>谢谢 · 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文献助手 DocAssist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>
                <a:solidFill>
                  <a:srgbClr val="C3CEE6"/>
                </a:solidFill>
                <a:latin typeface="微软雅黑"/>
                <a:ea typeface="微软雅黑"/>
              </a:rPr>
              <a:t>作品形态：微信小程序体验版（扫码即用）+ Android 客户端（APK 安装）</a:t>
            </a:r>
          </a:p>
          <a:p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>
                <a:solidFill>
                  <a:srgbClr val="C3CEE6"/>
                </a:solidFill>
                <a:latin typeface="微软雅黑"/>
                <a:ea typeface="微软雅黑"/>
              </a:rPr>
              <a:t>双端同源：miniprogram / app-android / shared / cloudfunctions / local-preview / test</a:t>
            </a:r>
          </a:p>
          <a:p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>
                <a:solidFill>
                  <a:srgbClr val="C3CEE6"/>
                </a:solidFill>
                <a:latin typeface="微软雅黑"/>
                <a:ea typeface="微软雅黑"/>
              </a:rPr>
              <a:t>可复现：规则引擎 8 组回归样例；外文转换 38/38；本地预览 npm run 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177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C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731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团队：（请填写）　负责人：（请填写）</a:t>
            </a:r>
          </a:p>
          <a:p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3CEE6"/>
                </a:solidFill>
                <a:latin typeface="微软雅黑"/>
                <a:ea typeface="微软雅黑"/>
              </a:rPr>
              <a:t>联系方式：（请填写）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3CEE6"/>
                </a:solidFill>
                <a:latin typeface="微软雅黑"/>
                <a:ea typeface="微软雅黑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